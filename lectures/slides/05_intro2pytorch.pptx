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8" r:id="rId3"/>
    <p:sldId id="327" r:id="rId4"/>
    <p:sldId id="304" r:id="rId5"/>
    <p:sldId id="305" r:id="rId6"/>
    <p:sldId id="308" r:id="rId7"/>
    <p:sldId id="307" r:id="rId8"/>
    <p:sldId id="306" r:id="rId9"/>
    <p:sldId id="309" r:id="rId10"/>
    <p:sldId id="310" r:id="rId11"/>
    <p:sldId id="312" r:id="rId12"/>
    <p:sldId id="311" r:id="rId13"/>
    <p:sldId id="313" r:id="rId14"/>
    <p:sldId id="314" r:id="rId15"/>
    <p:sldId id="315" r:id="rId16"/>
    <p:sldId id="317" r:id="rId17"/>
    <p:sldId id="318" r:id="rId18"/>
    <p:sldId id="320" r:id="rId19"/>
    <p:sldId id="319" r:id="rId20"/>
    <p:sldId id="321" r:id="rId21"/>
    <p:sldId id="322" r:id="rId22"/>
    <p:sldId id="323" r:id="rId23"/>
    <p:sldId id="337" r:id="rId24"/>
    <p:sldId id="339" r:id="rId25"/>
    <p:sldId id="30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9"/>
    <p:restoredTop sz="94719"/>
  </p:normalViewPr>
  <p:slideViewPr>
    <p:cSldViewPr snapToGrid="0">
      <p:cViewPr varScale="1">
        <p:scale>
          <a:sx n="148" d="100"/>
          <a:sy n="148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E05FC-6A5E-A34F-B4BB-CD9FD833B64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6E769-B062-864A-A829-4F055F992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4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F6462-75A1-5B44-B7F8-62528B43AA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73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E4A14-7847-9D4F-8707-D37AFBDA37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75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E4A14-7847-9D4F-8707-D37AFBDA37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43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Increasing the stride will allow the filter to cover a larger area of the input image, which can be useful for capturing more global features.</a:t>
            </a:r>
          </a:p>
          <a:p>
            <a:endParaRPr lang="en-US" dirty="0"/>
          </a:p>
          <a:p>
            <a:r>
              <a:rPr lang="en-US" dirty="0"/>
              <a:t>In contrast, lowering the stride will capture finer and more local details.</a:t>
            </a:r>
          </a:p>
          <a:p>
            <a:endParaRPr lang="en-US" dirty="0"/>
          </a:p>
          <a:p>
            <a:r>
              <a:rPr lang="en-US" dirty="0"/>
              <a:t>In addition, increasing the stride will control overfitting and reduce computational efficiency as it will reduce the spatial dimensions of the feature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E4A14-7847-9D4F-8707-D37AFBDA37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42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4F41-6AE8-F7E2-6B7B-6842B7C2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B5598-11C5-2036-DF89-4013E9851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A7100-57FA-9E7E-8602-3F9CC8BA5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Mainly when the edges of the image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 useful information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you want to capture.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C8536-8BAF-9B4F-B6C0-CD8D4A477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E4A14-7847-9D4F-8707-D37AFBDA37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50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convolutional layers are good at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detecting features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input data, dense layers are essential 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integrating these features into predictions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if we design a convolutional neural network for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facial recognition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early layers might detect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 and textures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dense layers might interpret these to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recognize specific facial features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E4A14-7847-9D4F-8707-D37AFBDA37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14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E4A14-7847-9D4F-8707-D37AFBDA37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70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93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0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3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4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3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3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6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6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9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5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EDECFE2-FE17-DC42-869E-4796E86AA9B8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630501F-390A-2E41-972A-276BF26F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88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thedeephub/convolutional-neural-networks-a-comprehensive-guide-5cc0b5eae17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forms.gle/QwjjUPFD8YFThhyL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black and white image&#10;&#10;Description automatically generated">
            <a:extLst>
              <a:ext uri="{FF2B5EF4-FFF2-40B4-BE49-F238E27FC236}">
                <a16:creationId xmlns:a16="http://schemas.microsoft.com/office/drawing/2014/main" id="{F57DDEF9-0E03-C5A9-F039-2DD0B2FBEC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37" t="16987" r="13818" b="14752"/>
          <a:stretch/>
        </p:blipFill>
        <p:spPr>
          <a:xfrm rot="10800000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88A93D6-1F5C-2D64-0DED-6E45224CC2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371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51D3B-CEF6-2642-3ED4-D29F25A6E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227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Deep Learning for Spatial Transcriptomics</a:t>
            </a:r>
            <a:br>
              <a:rPr lang="en-US" dirty="0"/>
            </a:br>
            <a:r>
              <a:rPr lang="en-US" sz="4900" dirty="0"/>
              <a:t>Introduction to Pytorch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31B37-098F-FC31-F9AA-5D07BDF4C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Caleb Hallinan</a:t>
            </a:r>
          </a:p>
          <a:p>
            <a:r>
              <a:rPr lang="en-US" dirty="0"/>
              <a:t>10/??/2025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73F7B-A55A-EEAE-779A-DC47E678271E}"/>
              </a:ext>
            </a:extLst>
          </p:cNvPr>
          <p:cNvSpPr txBox="1"/>
          <p:nvPr/>
        </p:nvSpPr>
        <p:spPr>
          <a:xfrm>
            <a:off x="10083731" y="6596390"/>
            <a:ext cx="2108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10x Xenium Breast Cancer Data</a:t>
            </a:r>
          </a:p>
        </p:txBody>
      </p:sp>
    </p:spTree>
    <p:extLst>
      <p:ext uri="{BB962C8B-B14F-4D97-AF65-F5344CB8AC3E}">
        <p14:creationId xmlns:p14="http://schemas.microsoft.com/office/powerpoint/2010/main" val="237362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AF83-08C4-5629-3B3C-3B80C264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Today’s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882B6-3B60-D309-E7A9-0B2F7A003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4867201"/>
          </a:xfrm>
        </p:spPr>
        <p:txBody>
          <a:bodyPr>
            <a:normAutofit/>
          </a:bodyPr>
          <a:lstStyle/>
          <a:p>
            <a:r>
              <a:rPr lang="en-US" dirty="0"/>
              <a:t>Review on Convolutional Neural Networks</a:t>
            </a:r>
          </a:p>
          <a:p>
            <a:pPr lvl="1"/>
            <a:r>
              <a:rPr lang="en-US" dirty="0">
                <a:hlinkClick r:id="rId2"/>
              </a:rPr>
              <a:t>https://medium.com/thedeephub/convolutional-neural-networks-a-comprehensive-guide-5cc0b5eae175</a:t>
            </a:r>
            <a:endParaRPr lang="en-US" dirty="0"/>
          </a:p>
          <a:p>
            <a:endParaRPr lang="en-US" dirty="0"/>
          </a:p>
          <a:p>
            <a:r>
              <a:rPr lang="en-US" dirty="0"/>
              <a:t>Introduction to Pytorch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1434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3831-ABB3-B8A6-2CC4-DF10FA57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Convolutional Neural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B287-7E5D-1B0F-4FC0-F773EB365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7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F028-0040-0097-67E4-8D3E508B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know about the basic NN</a:t>
            </a:r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C6863D57-74C4-1562-C948-B5A16BE87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698487" cy="4388168"/>
          </a:xfrm>
        </p:spPr>
      </p:pic>
    </p:spTree>
    <p:extLst>
      <p:ext uri="{BB962C8B-B14F-4D97-AF65-F5344CB8AC3E}">
        <p14:creationId xmlns:p14="http://schemas.microsoft.com/office/powerpoint/2010/main" val="300893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A616-AEFA-72BE-A5F0-74CE1622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 example on an image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ED9DDB-3A20-C290-990C-3C63A1195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081" y="1642992"/>
            <a:ext cx="8615838" cy="48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ACD518-5FA5-7F44-DCA8-AF47944BDA0B}"/>
              </a:ext>
            </a:extLst>
          </p:cNvPr>
          <p:cNvSpPr txBox="1"/>
          <p:nvPr/>
        </p:nvSpPr>
        <p:spPr>
          <a:xfrm>
            <a:off x="2905760" y="6428343"/>
            <a:ext cx="537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Doesn’t always capture the features we want… why?</a:t>
            </a:r>
          </a:p>
        </p:txBody>
      </p:sp>
    </p:spTree>
    <p:extLst>
      <p:ext uri="{BB962C8B-B14F-4D97-AF65-F5344CB8AC3E}">
        <p14:creationId xmlns:p14="http://schemas.microsoft.com/office/powerpoint/2010/main" val="365147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2914-9928-DEFD-6AFA-5ED3975B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image?</a:t>
            </a:r>
          </a:p>
        </p:txBody>
      </p:sp>
      <p:pic>
        <p:nvPicPr>
          <p:cNvPr id="5" name="Content Placeholder 4" descr="A group of colored squares&#10;&#10;AI-generated content may be incorrect.">
            <a:extLst>
              <a:ext uri="{FF2B5EF4-FFF2-40B4-BE49-F238E27FC236}">
                <a16:creationId xmlns:a16="http://schemas.microsoft.com/office/drawing/2014/main" id="{597C2426-99BC-FF2C-B8DA-1C8D925AF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364" y="1936955"/>
            <a:ext cx="5283709" cy="322893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4B760-D4E4-0600-5612-F21C7D90DC5D}"/>
              </a:ext>
            </a:extLst>
          </p:cNvPr>
          <p:cNvSpPr txBox="1"/>
          <p:nvPr/>
        </p:nvSpPr>
        <p:spPr>
          <a:xfrm>
            <a:off x="6334165" y="3016577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=</a:t>
            </a:r>
          </a:p>
        </p:txBody>
      </p:sp>
      <p:pic>
        <p:nvPicPr>
          <p:cNvPr id="8" name="Picture 7" descr="A dog standing in a grassy field&#10;&#10;AI-generated content may be incorrect.">
            <a:extLst>
              <a:ext uri="{FF2B5EF4-FFF2-40B4-BE49-F238E27FC236}">
                <a16:creationId xmlns:a16="http://schemas.microsoft.com/office/drawing/2014/main" id="{3982205F-DE14-0F4B-34C2-3E280C0DA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935" y="1074655"/>
            <a:ext cx="3531517" cy="4708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1F593A-B6E9-8B83-EA15-7184A261C677}"/>
              </a:ext>
            </a:extLst>
          </p:cNvPr>
          <p:cNvSpPr txBox="1"/>
          <p:nvPr/>
        </p:nvSpPr>
        <p:spPr>
          <a:xfrm>
            <a:off x="205863" y="5412155"/>
            <a:ext cx="5588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Three channels (matrices) stacked on top of each other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86DAB-E342-DC61-C740-06D4F34FA181}"/>
              </a:ext>
            </a:extLst>
          </p:cNvPr>
          <p:cNvSpPr txBox="1"/>
          <p:nvPr/>
        </p:nvSpPr>
        <p:spPr>
          <a:xfrm>
            <a:off x="205863" y="6307111"/>
            <a:ext cx="671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how can we preserve spatial information in the image for a NN?</a:t>
            </a:r>
          </a:p>
        </p:txBody>
      </p:sp>
    </p:spTree>
    <p:extLst>
      <p:ext uri="{BB962C8B-B14F-4D97-AF65-F5344CB8AC3E}">
        <p14:creationId xmlns:p14="http://schemas.microsoft.com/office/powerpoint/2010/main" val="133007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D2D2-7505-2674-16AB-60A79B93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Operation</a:t>
            </a:r>
          </a:p>
        </p:txBody>
      </p:sp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2C0D65A0-076E-0EDF-ABAE-FAB3FC8FE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7597" y="1690688"/>
            <a:ext cx="9556806" cy="39669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B586A3-1825-211D-A5F1-9C9892FCC896}"/>
              </a:ext>
            </a:extLst>
          </p:cNvPr>
          <p:cNvSpPr txBox="1"/>
          <p:nvPr/>
        </p:nvSpPr>
        <p:spPr>
          <a:xfrm>
            <a:off x="3970065" y="6033155"/>
            <a:ext cx="4251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matrix is known as a feature map!</a:t>
            </a:r>
          </a:p>
        </p:txBody>
      </p:sp>
    </p:spTree>
    <p:extLst>
      <p:ext uri="{BB962C8B-B14F-4D97-AF65-F5344CB8AC3E}">
        <p14:creationId xmlns:p14="http://schemas.microsoft.com/office/powerpoint/2010/main" val="318952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BA2D-2A2A-C1BF-9D94-8F29A3F50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EC24E6D-9A3E-D016-77A2-7DA3A276DC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04" y="1690688"/>
            <a:ext cx="5203792" cy="459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219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649D-8F87-1F0F-C4BA-B046B728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E198-66D3-6156-F45D-A2001310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There are typically separate kernels for each channel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FE8A732-0A4E-A260-16BA-03554EFB2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185" y="2318994"/>
            <a:ext cx="9477630" cy="349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25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5D5D-95DE-6CB8-9E25-A8A8F734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D5ECB-8026-6890-8D40-2B2373688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6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 </a:t>
            </a:r>
            <a:r>
              <a:rPr lang="en-US" b="1" dirty="0"/>
              <a:t>‘depth’</a:t>
            </a:r>
            <a:r>
              <a:rPr lang="en-US" dirty="0"/>
              <a:t> of a layer refers to the number of kernels it contains. Each filter produces a separate </a:t>
            </a:r>
            <a:r>
              <a:rPr lang="en-US" b="1" dirty="0"/>
              <a:t>feature map</a:t>
            </a:r>
            <a:r>
              <a:rPr lang="en-US" dirty="0"/>
              <a:t>, and the collection of these feature maps forms the </a:t>
            </a:r>
            <a:r>
              <a:rPr lang="en-US" b="1" i="1" dirty="0"/>
              <a:t>complete output of the layer</a:t>
            </a:r>
            <a:endParaRPr lang="en-US" dirty="0"/>
          </a:p>
        </p:txBody>
      </p:sp>
      <p:pic>
        <p:nvPicPr>
          <p:cNvPr id="5122" name="Picture 2" descr="Convolutional Neural Networks: A Comprehensive Guide | by Jorgecardete |  The Deep Hub | Medium">
            <a:extLst>
              <a:ext uri="{FF2B5EF4-FFF2-40B4-BE49-F238E27FC236}">
                <a16:creationId xmlns:a16="http://schemas.microsoft.com/office/drawing/2014/main" id="{6186F9FA-2F05-8904-B103-E80DEF92D0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14"/>
          <a:stretch>
            <a:fillRect/>
          </a:stretch>
        </p:blipFill>
        <p:spPr bwMode="auto">
          <a:xfrm>
            <a:off x="4015008" y="3049589"/>
            <a:ext cx="3412335" cy="344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23FBDF-2535-7B5A-5BDE-E9FCEE73283D}"/>
              </a:ext>
            </a:extLst>
          </p:cNvPr>
          <p:cNvSpPr txBox="1"/>
          <p:nvPr/>
        </p:nvSpPr>
        <p:spPr>
          <a:xfrm>
            <a:off x="6168509" y="5206117"/>
            <a:ext cx="87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4251186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7079-5968-56DF-CE98-EA208B13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would we want more kernels/feature maps?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7CB6A-B918-D616-FA90-98A671077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0FFF-4473-2232-1CEB-CC145DEA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0CD45-90A4-836D-D727-A6AF57D5F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Stride refers to the number of pixels by which a kernel moves across the input image.</a:t>
            </a:r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F8FEE96-A330-2035-983D-F9F68DECE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61" y="3677545"/>
            <a:ext cx="5057480" cy="281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BFA6B9E2-82BF-7D70-3ABD-3B238AC4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289" y="3677545"/>
            <a:ext cx="5027375" cy="281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2FA9C2-8D1C-DE13-73DC-574B7AA3222F}"/>
              </a:ext>
            </a:extLst>
          </p:cNvPr>
          <p:cNvSpPr txBox="1"/>
          <p:nvPr/>
        </p:nvSpPr>
        <p:spPr>
          <a:xfrm>
            <a:off x="2571057" y="3072576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Stride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6ED36-8F0B-D9B9-3626-3B434786536B}"/>
              </a:ext>
            </a:extLst>
          </p:cNvPr>
          <p:cNvSpPr txBox="1"/>
          <p:nvPr/>
        </p:nvSpPr>
        <p:spPr>
          <a:xfrm>
            <a:off x="8503532" y="3072576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Stride 2</a:t>
            </a:r>
          </a:p>
        </p:txBody>
      </p:sp>
    </p:spTree>
    <p:extLst>
      <p:ext uri="{BB962C8B-B14F-4D97-AF65-F5344CB8AC3E}">
        <p14:creationId xmlns:p14="http://schemas.microsoft.com/office/powerpoint/2010/main" val="2220830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E26AD-E37F-6CF4-028F-C0614D1A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would we want a smaller or bigger stride?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EF52A-D278-D025-3014-9EA609D96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14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FC40-7673-02EF-AD70-305C60AB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5C3F-6F0A-2119-64E9-3BBC25440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Padding refers to the addition of extra pixels around the edge of the input image.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47A1BD0-0854-7B23-BA67-D2EDE4797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687" y="3353585"/>
            <a:ext cx="5750625" cy="32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4EE0D4-CAE3-2422-91A6-721BDEF6850F}"/>
              </a:ext>
            </a:extLst>
          </p:cNvPr>
          <p:cNvSpPr txBox="1"/>
          <p:nvPr/>
        </p:nvSpPr>
        <p:spPr>
          <a:xfrm>
            <a:off x="5432868" y="2849316"/>
            <a:ext cx="1326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Padding = 1</a:t>
            </a:r>
          </a:p>
        </p:txBody>
      </p:sp>
    </p:spTree>
    <p:extLst>
      <p:ext uri="{BB962C8B-B14F-4D97-AF65-F5344CB8AC3E}">
        <p14:creationId xmlns:p14="http://schemas.microsoft.com/office/powerpoint/2010/main" val="326317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3F34-6076-FA99-42D2-C259AD8B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F5F0-83BE-F319-5CEB-7AC634C2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would we want to add padding?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F56E1-4759-A55F-CC0A-379384552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99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1E82-4F0A-0373-EC3A-987D2F259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Pooling?</a:t>
            </a:r>
          </a:p>
        </p:txBody>
      </p:sp>
      <p:pic>
        <p:nvPicPr>
          <p:cNvPr id="4" name="Picture 2" descr="Convolutional Neural Networks: A Comprehensive Guide | by Jorgecardete |  The Deep Hub | Medium">
            <a:extLst>
              <a:ext uri="{FF2B5EF4-FFF2-40B4-BE49-F238E27FC236}">
                <a16:creationId xmlns:a16="http://schemas.microsoft.com/office/drawing/2014/main" id="{B6FCD838-2BDF-E85F-5CCD-8FECA01DE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128" y="2189229"/>
            <a:ext cx="6951744" cy="344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377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9851-E3A3-2F3D-EF6D-5770A00E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8B80-1CA7-76AC-DEEE-59676F3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92" y="1816198"/>
            <a:ext cx="340386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Main objective is dimensionality reduction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Pooling layers do not reduce the number of channels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pooling operation is applied independently to each channel of the input data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C1EBDAA-12BD-2E73-3A27-E28B4C588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935" y="586446"/>
            <a:ext cx="7795940" cy="590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86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18D6-2259-02CE-39C9-608607D7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Flattening layer (last layer)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1D6D3EC-1683-53EC-6F00-9E930E68EC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963" y="1825625"/>
            <a:ext cx="91020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150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FA12-9640-8F40-B752-3DF182D4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together so far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ED77E2D-78B4-0C14-5C60-FF6E30E0A7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80" y="1989196"/>
            <a:ext cx="10178839" cy="417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006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6D55-D9AA-A003-7C0B-449163DA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Dense Layers in a CNN?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61859-64E2-A70A-E767-B0DAC412E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56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1488-293F-0860-F6DB-AA78A17C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are we missing here? 🤔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2CB214-A63E-CABD-A462-971F99F89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80" y="1989196"/>
            <a:ext cx="10178839" cy="417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751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CFBF-DABF-F112-8C42-A921B0AC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Functions!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B7956DF-A7B4-8DA4-F886-B05AFAFDB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983" y="1825625"/>
            <a:ext cx="740203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064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F39-9C89-7614-3CCA-C9D7B2B8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CNN</a:t>
            </a:r>
          </a:p>
        </p:txBody>
      </p:sp>
      <p:pic>
        <p:nvPicPr>
          <p:cNvPr id="24578" name="Picture 2" descr="Convolutional Neural Network | Deep Learning | Developers Breach">
            <a:extLst>
              <a:ext uri="{FF2B5EF4-FFF2-40B4-BE49-F238E27FC236}">
                <a16:creationId xmlns:a16="http://schemas.microsoft.com/office/drawing/2014/main" id="{4901A9DE-2850-AA0E-78A9-FB29E86B2C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912144"/>
            <a:ext cx="8890000" cy="417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036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6D93-48EB-4139-6C56-BA1F6BAD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Pytorch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D839F-6668-1177-627E-254973ADC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84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0583-2A51-A5A4-43C8-2A2A65E3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252"/>
            <a:ext cx="10515600" cy="1325563"/>
          </a:xfrm>
        </p:spPr>
        <p:txBody>
          <a:bodyPr/>
          <a:lstStyle/>
          <a:p>
            <a:r>
              <a:rPr lang="en-US" dirty="0"/>
              <a:t>Reflection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1B065-8C03-EE43-9821-F355A4E71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Essentially a means to help me make this class better!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something that you learned in today's lecture?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something that you are still confused about from today's lecture?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you have any other comments/feedback/thoughts/suggestions/concerns?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F5594-9FDF-AFCB-CAF3-A16B0830A5B8}"/>
              </a:ext>
            </a:extLst>
          </p:cNvPr>
          <p:cNvSpPr txBox="1"/>
          <p:nvPr/>
        </p:nvSpPr>
        <p:spPr>
          <a:xfrm>
            <a:off x="2616937" y="5908100"/>
            <a:ext cx="7025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linkClick r:id="rId2"/>
              </a:rPr>
              <a:t>https://forms.gle/QwjjUPFD8YFThhyL9</a:t>
            </a:r>
            <a:endParaRPr lang="en-US" sz="3200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2168111-84C6-A76F-4B6A-ABAE9215E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9996"/>
            <a:ext cx="5991157" cy="17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0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4693</TotalTime>
  <Words>498</Words>
  <Application>Microsoft Macintosh PowerPoint</Application>
  <PresentationFormat>Widescreen</PresentationFormat>
  <Paragraphs>75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Deep Learning for Spatial Transcriptomics Introduction to Pytorch</vt:lpstr>
      <vt:lpstr>Today’s class</vt:lpstr>
      <vt:lpstr>Convolutional Neural Networks</vt:lpstr>
      <vt:lpstr>We know about the basic NN</vt:lpstr>
      <vt:lpstr>NN example on an image</vt:lpstr>
      <vt:lpstr>What is an image?</vt:lpstr>
      <vt:lpstr>Convolutional Operation</vt:lpstr>
      <vt:lpstr>Kernels</vt:lpstr>
      <vt:lpstr>There are typically separate kernels for each channel</vt:lpstr>
      <vt:lpstr>Depth</vt:lpstr>
      <vt:lpstr>Why would we want more kernels/feature maps?</vt:lpstr>
      <vt:lpstr>Stride</vt:lpstr>
      <vt:lpstr>Why would we want a smaller or bigger stride?</vt:lpstr>
      <vt:lpstr>Padding</vt:lpstr>
      <vt:lpstr>Why would we want to add padding?</vt:lpstr>
      <vt:lpstr>What is Pooling?</vt:lpstr>
      <vt:lpstr>Pooling</vt:lpstr>
      <vt:lpstr>Flattening layer (last layer)</vt:lpstr>
      <vt:lpstr>All together so far</vt:lpstr>
      <vt:lpstr>Why do we need Dense Layers in a CNN?</vt:lpstr>
      <vt:lpstr>But what are we missing here? 🤔</vt:lpstr>
      <vt:lpstr>Activation Functions!</vt:lpstr>
      <vt:lpstr>Full CNN</vt:lpstr>
      <vt:lpstr>Intro to Pytorch</vt:lpstr>
      <vt:lpstr>Reflection Cards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Hallinan</dc:creator>
  <cp:lastModifiedBy>Caleb Hallinan</cp:lastModifiedBy>
  <cp:revision>9</cp:revision>
  <dcterms:created xsi:type="dcterms:W3CDTF">2024-11-01T01:50:58Z</dcterms:created>
  <dcterms:modified xsi:type="dcterms:W3CDTF">2025-10-13T13:16:54Z</dcterms:modified>
</cp:coreProperties>
</file>